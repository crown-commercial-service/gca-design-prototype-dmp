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4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Dickman" userId="69f6a7341f359009" providerId="LiveId" clId="{15EF266E-24A2-4FF6-9988-1D899339C735}"/>
    <pc:docChg chg="custSel modSld">
      <pc:chgData name="Craig Dickman" userId="69f6a7341f359009" providerId="LiveId" clId="{15EF266E-24A2-4FF6-9988-1D899339C735}" dt="2026-09-07T16:52:54.877" v="0" actId="478"/>
      <pc:docMkLst>
        <pc:docMk/>
      </pc:docMkLst>
      <pc:sldChg chg="delSp mod">
        <pc:chgData name="Craig Dickman" userId="69f6a7341f359009" providerId="LiveId" clId="{15EF266E-24A2-4FF6-9988-1D899339C735}" dt="2026-09-07T16:52:54.877" v="0" actId="478"/>
        <pc:sldMkLst>
          <pc:docMk/>
          <pc:sldMk cId="0" sldId="256"/>
        </pc:sldMkLst>
        <pc:spChg chg="del">
          <ac:chgData name="Craig Dickman" userId="69f6a7341f359009" providerId="LiveId" clId="{15EF266E-24A2-4FF6-9988-1D899339C735}" dt="2026-09-07T16:52:54.877" v="0" actId="478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88720"/>
            <a:ext cx="2286000" cy="146304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Local Prototype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(VS Code + Node.js)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GOV.UK Prototype Kit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Build pages, edit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188720"/>
            <a:ext cx="2286000" cy="1463040"/>
          </a:xfrm>
          <a:prstGeom prst="roundRect">
            <a:avLst/>
          </a:prstGeom>
          <a:solidFill>
            <a:srgbClr val="F3F2F1"/>
          </a:solidFill>
          <a:ln>
            <a:solidFill>
              <a:srgbClr val="F3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0B0C0C"/>
                </a:solidFill>
              </a:rPr>
              <a:t>Git Commit &amp; Push</a:t>
            </a:r>
          </a:p>
          <a:p>
            <a:pPr algn="ctr"/>
            <a:r>
              <a:rPr sz="1100" b="0">
                <a:solidFill>
                  <a:srgbClr val="0B0C0C"/>
                </a:solidFill>
              </a:rPr>
              <a:t>git add / commit / push</a:t>
            </a:r>
          </a:p>
          <a:p>
            <a:pPr algn="ctr"/>
            <a:r>
              <a:rPr sz="1100" b="0">
                <a:solidFill>
                  <a:srgbClr val="0B0C0C"/>
                </a:solidFill>
              </a:rPr>
              <a:t>from local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2286000" cy="1463040"/>
          </a:xfrm>
          <a:prstGeom prst="roundRect">
            <a:avLst/>
          </a:prstGeom>
          <a:solidFill>
            <a:srgbClr val="24292E"/>
          </a:solidFill>
          <a:ln>
            <a:solidFill>
              <a:srgbClr val="242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GitHub Repository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Remote source of truth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Pull Requests &amp; Code Review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Merge to main 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188720"/>
            <a:ext cx="2286000" cy="1463040"/>
          </a:xfrm>
          <a:prstGeom prst="roundRect">
            <a:avLst/>
          </a:prstGeom>
          <a:solidFill>
            <a:srgbClr val="6B46C1"/>
          </a:solidFill>
          <a:ln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Railway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Webhook triggers build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Installs deps &amp; runs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npm start, deploys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0" y="1188720"/>
            <a:ext cx="2286000" cy="1463040"/>
          </a:xfrm>
          <a:prstGeom prst="roundRect">
            <a:avLst/>
          </a:prstGeom>
          <a:solidFill>
            <a:srgbClr val="00703C"/>
          </a:solidFill>
          <a:ln>
            <a:solidFill>
              <a:srgbClr val="007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Live GOV.UK Prototype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Public Railway URL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Viewed by users/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stakeholders in browser</a:t>
            </a:r>
          </a:p>
        </p:txBody>
      </p:sp>
      <p:cxnSp>
        <p:nvCxnSpPr>
          <p:cNvPr id="8" name="Connector 7"/>
          <p:cNvCxnSpPr>
            <a:stCxn id="3" idx="3"/>
            <a:endCxn id="4" idx="1"/>
          </p:cNvCxnSpPr>
          <p:nvPr/>
        </p:nvCxnSpPr>
        <p:spPr>
          <a:xfrm flipV="1">
            <a:off x="2651760" y="1920240"/>
            <a:ext cx="502920" cy="0"/>
          </a:xfrm>
          <a:prstGeom prst="line">
            <a:avLst/>
          </a:prstGeom>
          <a:ln w="25400">
            <a:solidFill>
              <a:srgbClr val="0B0C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60320" y="896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0B0C0C"/>
                </a:solidFill>
              </a:rPr>
              <a:t>push</a:t>
            </a:r>
          </a:p>
        </p:txBody>
      </p:sp>
      <p:cxnSp>
        <p:nvCxnSpPr>
          <p:cNvPr id="10" name="Connector 9"/>
          <p:cNvCxnSpPr>
            <a:stCxn id="4" idx="3"/>
            <a:endCxn id="5" idx="1"/>
          </p:cNvCxnSpPr>
          <p:nvPr/>
        </p:nvCxnSpPr>
        <p:spPr>
          <a:xfrm flipV="1">
            <a:off x="5440680" y="1920240"/>
            <a:ext cx="502920" cy="0"/>
          </a:xfrm>
          <a:prstGeom prst="line">
            <a:avLst/>
          </a:prstGeom>
          <a:ln w="25400">
            <a:solidFill>
              <a:srgbClr val="0B0C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49240" y="896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0B0C0C"/>
                </a:solidFill>
              </a:rPr>
              <a:t>GitHub
receives commit</a:t>
            </a:r>
          </a:p>
        </p:txBody>
      </p:sp>
      <p:cxnSp>
        <p:nvCxnSpPr>
          <p:cNvPr id="12" name="Connector 11"/>
          <p:cNvCxnSpPr>
            <a:stCxn id="5" idx="3"/>
            <a:endCxn id="6" idx="1"/>
          </p:cNvCxnSpPr>
          <p:nvPr/>
        </p:nvCxnSpPr>
        <p:spPr>
          <a:xfrm flipV="1">
            <a:off x="8229600" y="1920240"/>
            <a:ext cx="502920" cy="0"/>
          </a:xfrm>
          <a:prstGeom prst="line">
            <a:avLst/>
          </a:prstGeom>
          <a:ln w="25400">
            <a:solidFill>
              <a:srgbClr val="0B0C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60" y="896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0B0C0C"/>
                </a:solidFill>
              </a:rPr>
              <a:t>webhook
on merge</a:t>
            </a:r>
          </a:p>
        </p:txBody>
      </p:sp>
      <p:cxnSp>
        <p:nvCxnSpPr>
          <p:cNvPr id="14" name="Connector 13"/>
          <p:cNvCxnSpPr>
            <a:stCxn id="6" idx="3"/>
            <a:endCxn id="7" idx="1"/>
          </p:cNvCxnSpPr>
          <p:nvPr/>
        </p:nvCxnSpPr>
        <p:spPr>
          <a:xfrm flipV="1">
            <a:off x="11018520" y="1920240"/>
            <a:ext cx="502920" cy="0"/>
          </a:xfrm>
          <a:prstGeom prst="line">
            <a:avLst/>
          </a:prstGeom>
          <a:ln w="25400">
            <a:solidFill>
              <a:srgbClr val="0B0C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27080" y="896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0B0C0C"/>
                </a:solidFill>
              </a:rPr>
              <a:t>deploy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08960"/>
            <a:ext cx="10652760" cy="822960"/>
          </a:xfrm>
          <a:prstGeom prst="roundRect">
            <a:avLst/>
          </a:prstGeom>
          <a:solidFill>
            <a:srgbClr val="F3F2F1"/>
          </a:solidFill>
          <a:ln>
            <a:solidFill>
              <a:srgbClr val="F3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0B0C0C"/>
                </a:solidFill>
              </a:rPr>
              <a:t>Feedback loop: reviewers/stakeholders raise issues in GitHub (PR comments / Issues) → developer pulls latest, edits locally, pushes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0C0C"/>
                </a:solidFill>
              </a:rPr>
              <a:t>Key transactions:</a:t>
            </a:r>
          </a:p>
          <a:p>
            <a:r>
              <a:rPr sz="1300" b="0">
                <a:solidFill>
                  <a:srgbClr val="0B0C0C"/>
                </a:solidFill>
              </a:rPr>
              <a:t>1. Developer edits prototype locally using Node.js and the GOV.UK Prototype Kit, previewing changes at localhost.</a:t>
            </a:r>
          </a:p>
          <a:p>
            <a:r>
              <a:rPr sz="1300" b="0">
                <a:solidFill>
                  <a:srgbClr val="0B0C0C"/>
                </a:solidFill>
              </a:rPr>
              <a:t>2. Changes are committed and pushed to a GitHub repository; pull requests enable review before merging to the main branch.</a:t>
            </a:r>
          </a:p>
          <a:p>
            <a:r>
              <a:rPr sz="1300" b="0">
                <a:solidFill>
                  <a:srgbClr val="0B0C0C"/>
                </a:solidFill>
              </a:rPr>
              <a:t>3. GitHub triggers a webhook to Railway on merge/push, which automatically builds and deploys the app.</a:t>
            </a:r>
          </a:p>
          <a:p>
            <a:r>
              <a:rPr sz="1300" b="0">
                <a:solidFill>
                  <a:srgbClr val="0B0C0C"/>
                </a:solidFill>
              </a:rPr>
              <a:t>4. Railway hosts the running prototype and exposes a public URL that mirrors how the service would appear on GOV.UK.</a:t>
            </a:r>
          </a:p>
          <a:p>
            <a:r>
              <a:rPr sz="1300" b="0">
                <a:solidFill>
                  <a:srgbClr val="0B0C0C"/>
                </a:solidFill>
              </a:rPr>
              <a:t>5. Stakeholders view the deployed prototype in a browser and give feedback via GitHub Issues or PR comments, restarting the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230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Craig Dickman</cp:lastModifiedBy>
  <cp:revision>1</cp:revision>
  <dcterms:created xsi:type="dcterms:W3CDTF">2013-01-27T09:14:16Z</dcterms:created>
  <dcterms:modified xsi:type="dcterms:W3CDTF">2026-09-07T16:53:04Z</dcterms:modified>
  <cp:category/>
</cp:coreProperties>
</file>